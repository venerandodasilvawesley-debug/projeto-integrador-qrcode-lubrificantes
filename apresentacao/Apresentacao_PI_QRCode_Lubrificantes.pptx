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63" r:id="rId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6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Tradicional</c:v>
                </c:pt>
              </c:strCache>
            </c:strRef>
          </c:tx>
          <c:spPr>
            <a:solidFill>
              <a:srgbClr val="1362AD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8.4</c:v>
                </c:pt>
                <c:pt idx="1">
                  <c:v>10.7</c:v>
                </c:pt>
                <c:pt idx="2">
                  <c:v>12.1</c:v>
                </c:pt>
                <c:pt idx="3">
                  <c:v>10.9</c:v>
                </c:pt>
                <c:pt idx="4">
                  <c:v>10.8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QR Code</c:v>
                </c:pt>
              </c:strCache>
            </c:strRef>
          </c:tx>
          <c:spPr>
            <a:solidFill>
              <a:srgbClr val="E74F11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3.6</c:v>
                </c:pt>
                <c:pt idx="1">
                  <c:v>3.0</c:v>
                </c:pt>
                <c:pt idx="2">
                  <c:v>2.4</c:v>
                </c:pt>
                <c:pt idx="3">
                  <c:v>3.0</c:v>
                </c:pt>
                <c:pt idx="4">
                  <c:v>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2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a equipe e o tema: um QR Code colado no equipamento abre, no celular, tudo o que o mecânico precisa para lubrificar com o óleo certo, no ponto certo, e registrar o que fez.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Contexto regional. Fonte: introdução do documento do PI (referência 5). Ligar com as fábricas de celulose da região, inclusive o Projeto Sucuriú da Arauco.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pesquisa: de que forma um QR Code fixado no equipamento pode reduzir o tempo gasto pelo mecânico para identificar e registrar a lubrificação de um redutor de velocidade?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Pesquisa aplicada, quantitativa, em ambiente didático, comparando dois métodos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Placa: série 818100, fabricado em 2018. A linha Magma M tamanho 06 foi deduzida pelo código e pelo manual, sem confirmação do fabricante. Aplicação hipotética: acionamento de uma pequena esteira transportadora.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nível é conferido retirando o bujão, com o equipamento parado e bloqueado. Na posição vertical adotada, o bujão de cima não é usado.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Dados do manual WEG-Cestari da linha coroa e rosca. Óleos recomendados para VG 460: ExxonMobil SHC 634, Shell Omala S4 GX 460, Klübersynth EG4-460.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Telas: segurança e vida útil do óleo; pontos no modelo 3D com fotos reais; registro em poucos toques. Os registros ficam no aparelho e podem ser exportados em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 simulada em 14/10/2026: próxima troca prevista para 30/06/2028. Tag do óleo RED-002-OLE-04, galão laranja (código e cor fictícios, de exemplo). A integração com o SAP é só uma proposta mostrada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Tocando no número ou na peça, a ficha mostra nome, material, função, o que inspecionar e falhas comuns, além do tag (ex.: RED-002-COR-01). Peças internas são ilustrativas e devem ser confirmadas numa desmontagem. Na vista em corte aparece o óleo no nível certo, até o bujão do meio (NIV-02): a rosca fica mergulhada e a coroa molha embaixo e leva o óleo para o engrenamento.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ordem de serviço para todos; cronômetro do celular. A aplicação do óleo em si não foi cronometrada, porque é igual nos dois métodos. ATENÇÃO: o documento prevê ordem contrabalanceada, mas os participantes 2 a 5 fizeram primeiro o tradicional; quem faz o tradicional primeiro já conhece o equipamento no segundo, o que pode aumentar a vantagem do QR Code. Citar isso como limitação.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dos 5 participantes: tradicional 10:35 min, QR Code 2:58 min. Todos foram mais rápidos com o QR Code. Medido o tempo total (sem separar as etapas A, B e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 do mecânico: R$ 3.150/mês (CBO 9113-05, Novo Caged via Portal Salário) ÷ 220 h = R$ 14,32, sem encargos: estimativa conservadora. Se a busca de informação acontece com a máquina parada, o ganho real inclui o custo da hora de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Ensaio feito no laboratório do SENAI com o auxílio do prof. João Vitor de Moura Barbosa. Óleo novo: Ipiranga Ipitur HLP ISO 68 (70,9 cSt a 40 °C na ficha; medido ≈ 66 cSt, dentro da faixa do VG 68). As medições foram levadas à mesma temperatura pela curva do próprio óleo (equação de Walther, ASTM D341). Critério usual: até 10 % normal, 10 a 20 % atenção, acima de 20 % crítico. Suspeitas: fluido de corte, água (depósito alaranjado) ou reposição com óleo mais fino.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ao vivo no celular. Antes da banca, abrir a ficha uma vez com dados móveis: o Wi-Fi de visitantes do SENAI bloqueia o site, mas depois do primeiro acesso a ficha funciona sem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do Código de Conduta do Projeto Sucuriú (Arauco): Segurança, Compromisso, Excelência e inovação, Trabalho em equipe e Bom cidadão. Mostrar como cada um aparece na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Limitações: cronometragem em ambiente didático; ordem não contrabalanceada nos participantes 2 a 5; linha Magma M 06 deduzida sem confirmação do fabricante; registros só no aparelho por enquanto.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para perguntas e, se possível, ler a etiqueta colada no redutor com 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DD6845F1-8151-4A8D-81DA-9DA0D09354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3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67556A5-6E38-474F-8A1D-B906CD4AB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54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F84AA11-06AB-4CC1-B8F8-54C0D70AD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228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6D4447-73FA-4DBD-B495-19F93E2ABB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70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343C9E6-38DF-491F-A880-3C2FC463F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77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118F287-6673-4863-B03D-F72E5E8B2C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0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6DDD1B4-761B-4EFB-AF59-1AE2E47111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6927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29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jp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3.jp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chart" Target="../charts/char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2.jp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QR CODE NA LUBRIFICAÇÃO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 digital de identificação e gestão de lubrificantes em um redutor de velocidade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Karine Dionisio Corrêa · Leonardo Trajano · Wesley Venerando da Silva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Técnico em Mecânica · Orientador(a): [nome do orientador] · 2026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Três Lagoas: a Capital Nacional da Celulose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Fibria (atual Suzano)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1,3 milhão t/ano de celulose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Eldorado Brasil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1,7 milhão t/ano de celulose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Lei nº 14.142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título de Capital Nacional da Celulose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9418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As máquinas principais já nasceram com lubrificação automática.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Mas redutores, bombas e transportadores continuam sendo lubrificados pelo mecânico, e é aí que este projeto atua.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problema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Na hora de lubrificar, a informação não está junto do equipamento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Tempo perdido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mecânico procura manual, ficha ou supervisor para saber óleo, volume e pontos.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Risco de erro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Óleo errado ou misturado: o sintético PAO não pode levar mineral nem poliglicol.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Registro falho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Anotado em papel e depois, o registro se perde e o PCM fica sem histórico.</a:t>
            </a:r>
          </a:p>
        </p:txBody>
      </p:sp>
    </p:spTree>
    <p:extLst>
      <p:ext uri="{BB962C8B-B14F-4D97-AF65-F5344CB8AC3E}">
        <p14:creationId xmlns:p14="http://schemas.microsoft.com/office/powerpoint/2010/main" val="103446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F2A37"/>
                </a:solidFill>
                <a:latin typeface="Arial"/>
              </a:rPr>
              <a:t>Desenvolver e avaliar um sistema com QR Code que leve ao mecânico, no próprio equipamento, as informações de lubrificação, reduzindo o tempo de identificação e de registro.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Levantar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dados do redutor na placa, no manual e no equipamento</a:t>
            </a:r>
          </a:p>
        </p:txBody>
      </p:sp>
      <p:sp>
        <p:nvSpPr>
          <p:cNvPr id="17" name="Oval 16"/>
          <p:cNvSpPr/>
          <p:nvPr/>
        </p:nvSpPr>
        <p:spPr>
          <a:xfrm>
            <a:off x="310896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Desenvolver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ficha digital e a etiqueta QR resistente</a:t>
            </a:r>
          </a:p>
        </p:txBody>
      </p:sp>
      <p:sp>
        <p:nvSpPr>
          <p:cNvPr id="20" name="Oval 19"/>
          <p:cNvSpPr/>
          <p:nvPr/>
        </p:nvSpPr>
        <p:spPr>
          <a:xfrm>
            <a:off x="566927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Medir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tempo nos dois métodos: tradicional × QR Code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Calcular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redução de tempo e o retorno financeiro</a:t>
            </a:r>
          </a:p>
        </p:txBody>
      </p:sp>
    </p:spTree>
    <p:extLst>
      <p:ext uri="{BB962C8B-B14F-4D97-AF65-F5344CB8AC3E}">
        <p14:creationId xmlns:p14="http://schemas.microsoft.com/office/powerpoint/2010/main" val="2590119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equipamento estudado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Redutor coroa e rosca sem fim WEG-Cestari da oficina do SENAI Três Lagoas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03120"/>
          <a:ext cx="6309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Linha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Magma M, tamanho 06 (código M0612802V0D001)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Redução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1:25 · 1.750 → 70 rpm · 1,75 kW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Engrenamento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Rosca sem fim de aço, coroa de bronze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Carcaça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Ferro fundido · 18,1 kg (sem óleo)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Lubrificação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Imersão em óleo sintético PAO ISO VG 460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Posição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Vertical, placa de identificação para cima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Foto medição" descr="image3.jpeg"/>
          <p:cNvPicPr>
            <a:picLocks noChangeAspect="1"/>
          </p:cNvPicPr>
          <p:nvPr/>
        </p:nvPicPr>
        <p:blipFill>
          <a:blip r:embed="rId6"/>
          <a:srcRect t="3711" b="3711"/>
          <a:stretch>
            <a:fillRect/>
          </a:stretch>
        </p:blipFill>
        <p:spPr>
          <a:xfrm>
            <a:off x="7315200" y="2103120"/>
            <a:ext cx="292608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760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Medição da carcaça com paquímetro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Pontos de lubrificação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Identificados e fotografados no próprio redutor</a:t>
            </a:r>
          </a:p>
        </p:txBody>
      </p:sp>
      <p:pic>
        <p:nvPicPr>
          <p:cNvPr id="14" name="Foto pontos" descr="red-nivel-dreno.jpg"/>
          <p:cNvPicPr>
            <a:picLocks noChangeAspect="1"/>
          </p:cNvPicPr>
          <p:nvPr/>
        </p:nvPicPr>
        <p:blipFill>
          <a:blip r:embed="rId6"/>
          <a:srcRect t="1606" b="1606"/>
          <a:stretch>
            <a:fillRect/>
          </a:stretch>
        </p:blipFill>
        <p:spPr>
          <a:xfrm>
            <a:off x="548640" y="2057400"/>
            <a:ext cx="2834640" cy="374903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40480" y="214884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0312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Enchimento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603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Pelo respiro de latão, na face de cima</a:t>
            </a:r>
          </a:p>
        </p:txBody>
      </p:sp>
      <p:sp>
        <p:nvSpPr>
          <p:cNvPr id="18" name="Oval 17"/>
          <p:cNvSpPr/>
          <p:nvPr/>
        </p:nvSpPr>
        <p:spPr>
          <a:xfrm>
            <a:off x="3840480" y="333756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9184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Nível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490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do meio da face da tampa cega; não há visor</a:t>
            </a:r>
          </a:p>
        </p:txBody>
      </p:sp>
      <p:sp>
        <p:nvSpPr>
          <p:cNvPr id="21" name="Oval 20"/>
          <p:cNvSpPr/>
          <p:nvPr/>
        </p:nvSpPr>
        <p:spPr>
          <a:xfrm>
            <a:off x="3840480" y="452628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805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Dreno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mais baixo dessa face e bujão da base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o mecânico precisa saber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VG 460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sintético PAO (CLP HC), conforme a placa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0,87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Volume para todas as posições de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15.000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Troca com o óleo a 80 °C (10.000 h a 85 °C; 7.500 h a 90 °C)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51960"/>
            <a:ext cx="9601200" cy="1005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91440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74F11"/>
                </a:solidFill>
                <a:latin typeface="Arial"/>
              </a:rPr>
              <a:t>Atenção: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não misturar com óleo mineral nem com sintético PG. Carcaça acima de 75 °C indica óleo acima do limite de 90 °C.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solução: uma etiqueta, uma ficha no celular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83080"/>
            <a:ext cx="3840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Página web: não precisa instalar aplicativo.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Depois do primeiro acesso funciona sem internet.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Etiqueta de papel colada em cima do redutor, com fita crepe: custo zero no protótipo.</a:t>
            </a:r>
          </a:p>
        </p:txBody>
      </p:sp>
      <p:pic>
        <p:nvPicPr>
          <p:cNvPr id="14" name="QR RED-002" descr="qr-lubrificacao-RED-0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49039"/>
            <a:ext cx="1554480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86000" y="3977639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5606E"/>
                </a:solidFill>
                <a:latin typeface="Arial"/>
              </a:rPr>
              <a:t>ficha-lubrificacao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06E"/>
                </a:solidFill>
                <a:latin typeface="Arial"/>
              </a:rPr>
              <a:t>.vercel.app/l/RED-002</a:t>
            </a:r>
          </a:p>
        </p:txBody>
      </p:sp>
      <p:pic>
        <p:nvPicPr>
          <p:cNvPr id="16" name="Tela 1" descr="imag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1783080"/>
            <a:ext cx="1668997" cy="3611880"/>
          </a:xfrm>
          <a:prstGeom prst="rect">
            <a:avLst/>
          </a:prstGeom>
        </p:spPr>
      </p:pic>
      <p:pic>
        <p:nvPicPr>
          <p:cNvPr id="17" name="Tela 2" descr="image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783080"/>
            <a:ext cx="1668997" cy="3611880"/>
          </a:xfrm>
          <a:prstGeom prst="rect">
            <a:avLst/>
          </a:prstGeom>
        </p:spPr>
      </p:pic>
      <p:pic>
        <p:nvPicPr>
          <p:cNvPr id="18" name="Tela 3" descr="imag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1783080"/>
            <a:ext cx="1668997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a ficha faz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Pensada para o mecânico: nada para calcular ou adivinhar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Segurança primeiro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LOTO, EPIs e alerta de mistura de óleos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6908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Vida útil do óleo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Semáforo e data da próxima troca, sem digitar nada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6092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Galão conferido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QR do galão: com o óleo errado, o registro não salva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Troca passo a passo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Uma etapa por tela, com fotos do próprio redutor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6908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Registro rápido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Inspeção, complemento ou troca em poucos toques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6092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Proposta SAP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Reserva de material e nota de manutenção simuladas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Modelo 3D do redutor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Vista explodida e em corte, com a ficha e o tag de cada peça</a:t>
            </a:r>
          </a:p>
        </p:txBody>
      </p:sp>
      <p:pic>
        <p:nvPicPr>
          <p:cNvPr id="14" name="Vista explodida" descr="3d-explodi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057400"/>
            <a:ext cx="4619254" cy="3749039"/>
          </a:xfrm>
          <a:prstGeom prst="rect">
            <a:avLst/>
          </a:prstGeom>
        </p:spPr>
      </p:pic>
      <p:pic>
        <p:nvPicPr>
          <p:cNvPr id="15" name="Vista em corte" descr="3d-cor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2057400"/>
            <a:ext cx="3749039" cy="374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Cronometragem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Cinco participantes, os dois métodos, junto ao redutor da oficina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48840"/>
          <a:ext cx="9509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38328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tradicional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com QR Code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A. Lubrificante certo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Placa e manual em PDF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Escanear e ler a ficha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B. Volume e pontos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Procurar no manual e no redutor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Já aparece na tela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C. Registro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Formulário de papel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Poucos toques no celular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43484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9052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Participantes: </a:t>
            </a:r>
            <a:r>
              <a:rPr sz="1500" b="0" i="0">
                <a:solidFill>
                  <a:srgbClr val="1F2A37"/>
                </a:solidFill>
                <a:latin typeface="Arial"/>
              </a:rPr>
              <a:t>Felipe Araujo, Bruno Henrique de Souza, Maria Eduarda de Jesus, Simone Martins e Elis Dantas, na oficina de mecânica do SENAI Três Lagoas.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Resultados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Tempo total por participante, em minutos</a:t>
            </a:r>
          </a:p>
        </p:txBody>
      </p:sp>
      <p:graphicFrame>
        <p:nvGraphicFramePr>
          <p:cNvPr id="14" name="Gráfico de tempos"/>
          <p:cNvGraphicFramePr>
            <a:graphicFrameLocks noGrp="1"/>
          </p:cNvGraphicFramePr>
          <p:nvPr/>
        </p:nvGraphicFramePr>
        <p:xfrm>
          <a:off x="548640" y="2011680"/>
          <a:ext cx="6309360" cy="38404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0" y="20574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0" i="0">
                <a:solidFill>
                  <a:srgbClr val="E74F11"/>
                </a:solidFill>
                <a:latin typeface="Impact"/>
              </a:rPr>
              <a:t>−72 %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20040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 tempo com o QR Code (média)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8862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Tradicional: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10:35 min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QR Code: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2:58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8006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Média dos 5 participantes · oficina do SENAI Três Lagoas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Retorno financeiro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Ganho só no tempo do mecânico (aplicação hipotética, sem linha parada)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7:37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poupados em cada intervenção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1,5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ano, com 12 inspeções mensais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R$ 22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 e por equipamento (R$ 14,32/h do mecânico)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2A37"/>
                </a:solidFill>
                <a:latin typeface="Arial"/>
              </a:rPr>
              <a:t>O ganho cresce com o número de equipamentos: </a:t>
            </a:r>
            <a:r>
              <a:rPr sz="1700" b="0" i="0">
                <a:solidFill>
                  <a:srgbClr val="1F2A37"/>
                </a:solidFill>
                <a:latin typeface="Arial"/>
              </a:rPr>
              <a:t>com 100 equipamentos. cerca de R$ 2.180 por ano, contra o custo baixo de etiqueta e impressão.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Análise do óleo no laboratório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Ensaio de aprendizagem · viscosímetro Marte MVD-8 · prof. João Vitor de Moura Barbosa</a:t>
            </a:r>
          </a:p>
        </p:txBody>
      </p:sp>
      <p:pic>
        <p:nvPicPr>
          <p:cNvPr id="14" name="Foto dreno" descr="tor-dreno.jpg"/>
          <p:cNvPicPr>
            <a:picLocks noChangeAspect="1"/>
          </p:cNvPicPr>
          <p:nvPr/>
        </p:nvPicPr>
        <p:blipFill>
          <a:blip r:embed="rId6"/>
          <a:srcRect l="4630" r="4630"/>
          <a:stretch>
            <a:fillRect/>
          </a:stretch>
        </p:blipFill>
        <p:spPr>
          <a:xfrm>
            <a:off x="548640" y="2103120"/>
            <a:ext cx="2240280" cy="3291840"/>
          </a:xfrm>
          <a:prstGeom prst="rect">
            <a:avLst/>
          </a:prstGeom>
        </p:spPr>
      </p:pic>
      <p:pic>
        <p:nvPicPr>
          <p:cNvPr id="15" name="Foto ensaio" descr="tor-ensaio-usado.jpg"/>
          <p:cNvPicPr>
            <a:picLocks noChangeAspect="1"/>
          </p:cNvPicPr>
          <p:nvPr/>
        </p:nvPicPr>
        <p:blipFill>
          <a:blip r:embed="rId7"/>
          <a:srcRect t="8694" b="8694"/>
          <a:stretch>
            <a:fillRect/>
          </a:stretch>
        </p:blipFill>
        <p:spPr>
          <a:xfrm>
            <a:off x="2926080" y="2103120"/>
            <a:ext cx="224028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4406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Dreno do óleo usado (26/10) e ensaio no viscosímetro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40680" y="210312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737360"/>
                <a:gridCol w="17373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novo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usado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Medido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145,6 mPa·s (22,7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 (27,3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Na mesma temperatura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110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Estimado a 40 °C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66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56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40680" y="4343400"/>
            <a:ext cx="4572000" cy="1097280"/>
          </a:xfrm>
          <a:prstGeom prst="roundRect">
            <a:avLst>
              <a:gd name="adj" fmla="val 15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416552"/>
            <a:ext cx="4206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A37"/>
                </a:solidFill>
                <a:latin typeface="Arial"/>
              </a:rPr>
              <a:t>ATENÇÃO · viscosidade −17 %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Óleo afinou e mostra sinais de contaminação (verde, turvo, depósito).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análise do óleo dentro do QR Code</a:t>
            </a:r>
          </a:p>
        </p:txBody>
      </p:sp>
      <p:pic>
        <p:nvPicPr>
          <p:cNvPr id="13" name="Tela TOR-001" descr="tela-tor-top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1962615" cy="402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1783080"/>
            <a:ext cx="6583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TOR-001 (torno):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QR mostra a situação do óleo com semáforo, o que fazer, as fotos do ensaio e o histórico. Quem lança o resultado é o laboratório, no SAP: a ficha puxa de lá e calcula a variação. O mecânico só consulta.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RED-002 (redutor):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mesmo cartão entra como proposta: o óleo VG 460 ainda não foi analisado. A amostra será coletada na troca, porque o redutor tem só 0,87 L.</a:t>
            </a:r>
          </a:p>
        </p:txBody>
      </p:sp>
      <p:pic>
        <p:nvPicPr>
          <p:cNvPr id="15" name="QR TOR-001" descr="qr-tor-0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4160520"/>
            <a:ext cx="1371600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37760" y="43434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5606E"/>
                </a:solidFill>
                <a:latin typeface="Arial"/>
              </a:rPr>
              <a:t>Leia e veja ao vivo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606E"/>
                </a:solidFill>
                <a:latin typeface="Arial"/>
              </a:rPr>
              <a:t>ficha-lubrificacao.vercel.app/e/TOR-001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Alinhado aos valores da Arauco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Código de Conduta do Projeto Sucuriú × o que o projeto entrega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E87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17627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8751A"/>
                </a:solidFill>
                <a:latin typeface="Impact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128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LOTO, EPIs e alertas aparecem antes de qualquer intervenção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2852927"/>
            <a:ext cx="548640" cy="548640"/>
          </a:xfrm>
          <a:prstGeom prst="ellipse">
            <a:avLst/>
          </a:prstGeom>
          <a:solidFill>
            <a:srgbClr val="C8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926079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8504A"/>
                </a:solidFill>
                <a:latin typeface="Impact"/>
              </a:rPr>
              <a:t>Compromisso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62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Cada intervenção fica registrada, com data, responsável e foto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602735"/>
            <a:ext cx="548640" cy="548640"/>
          </a:xfrm>
          <a:prstGeom prst="ellipse">
            <a:avLst/>
          </a:prstGeom>
          <a:solidFill>
            <a:srgbClr val="2FA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3675887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FA894"/>
                </a:solidFill>
                <a:latin typeface="Impact"/>
              </a:rPr>
              <a:t>Excelência e inovação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12463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QR Code, modelo 3D e análise do óleo no celular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352544"/>
            <a:ext cx="548640" cy="548640"/>
          </a:xfrm>
          <a:prstGeom prst="ellipse">
            <a:avLst/>
          </a:prstGeom>
          <a:solidFill>
            <a:srgbClr val="D9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425696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D9A300"/>
                </a:solidFill>
                <a:latin typeface="Impact"/>
              </a:rPr>
              <a:t>Trabalho em equipe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62272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Três projetos integradores no mesmo site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02352"/>
            <a:ext cx="548640" cy="548640"/>
          </a:xfrm>
          <a:prstGeom prst="ellipse">
            <a:avLst/>
          </a:prstGeom>
          <a:solidFill>
            <a:srgbClr val="8F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5175504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8FA81E"/>
                </a:solidFill>
                <a:latin typeface="Impact"/>
              </a:rPr>
              <a:t>Bom cidadão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2120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usado recolhido e destinado ao rerrefino (CONAMA)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Conclusão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Informação certa no ponto de uso: menos tempo e menos erro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362AD"/>
                </a:solidFill>
                <a:latin typeface="Impact"/>
              </a:rPr>
              <a:t>Contribuições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Tempo cerca de 72 % menor com o QR Code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Acesso padronizado aos dados de lubrificação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Histórico confiável para o PCM e a TPM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Análise do óleo com semáforo no próprio QR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74F11"/>
                </a:solidFill>
                <a:latin typeface="Impact"/>
              </a:rPr>
              <a:t>Próximos passos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Testar em linha de produção real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Analisar o óleo do redutor na próxima troca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Sincronizar os registros entre aparelhos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Integrar de fato ao SAP PM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OBRIGADO!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Perguntas?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Leia os QR Codes e veja as fichas ao vivo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-lubrificacao-RED-0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21208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RED-002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-tor-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521208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9923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TOR-001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7" baseType="lpstr">
      <vt:lpstr>Arial</vt:lpstr>
      <vt:lpstr>Impact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 de Albuquerque Servian</dc:creator>
  <cp:lastModifiedBy>Renan da Silva Fernandes</cp:lastModifiedBy>
  <cp:revision>7</cp:revision>
  <dcterms:created xsi:type="dcterms:W3CDTF">2026-01-26T19:49:21Z</dcterms:created>
  <dcterms:modified xsi:type="dcterms:W3CDTF">2026-05-18T19:23:44Z</dcterms:modified>
</cp:coreProperties>
</file>