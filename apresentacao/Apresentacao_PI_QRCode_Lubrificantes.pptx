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6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2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Tradicional</c:v>
                </c:pt>
              </c:strCache>
            </c:strRef>
          </c:tx>
          <c:spPr>
            <a:solidFill>
              <a:srgbClr val="1362AD"/>
            </a:solidFill>
          </c:spPr>
          <c:cat>
            <c:strRef>
              <c:f>Sheet1!$A$2:$A$6</c:f>
              <c:strCache>
                <c:ptCount val="5"/>
                <c:pt idx="0">
                  <c:v>Felipe</c:v>
                </c:pt>
                <c:pt idx="1">
                  <c:v>Bruno</c:v>
                </c:pt>
                <c:pt idx="2">
                  <c:v>Maria Eduarda</c:v>
                </c:pt>
                <c:pt idx="3">
                  <c:v>Simone</c:v>
                </c:pt>
                <c:pt idx="4">
                  <c:v>Elis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8.6</c:v>
                </c:pt>
                <c:pt idx="1">
                  <c:v>10.7</c:v>
                </c:pt>
                <c:pt idx="2">
                  <c:v>12.1</c:v>
                </c:pt>
                <c:pt idx="3">
                  <c:v>10.9</c:v>
                </c:pt>
                <c:pt idx="4">
                  <c:v>10.8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QR Code</c:v>
                </c:pt>
              </c:strCache>
            </c:strRef>
          </c:tx>
          <c:spPr>
            <a:solidFill>
              <a:srgbClr val="E74F11"/>
            </a:solidFill>
          </c:spPr>
          <c:cat>
            <c:strRef>
              <c:f>Sheet1!$A$2:$A$6</c:f>
              <c:strCache>
                <c:ptCount val="5"/>
                <c:pt idx="0">
                  <c:v>Felipe</c:v>
                </c:pt>
                <c:pt idx="1">
                  <c:v>Bruno</c:v>
                </c:pt>
                <c:pt idx="2">
                  <c:v>Maria Eduarda</c:v>
                </c:pt>
                <c:pt idx="3">
                  <c:v>Simone</c:v>
                </c:pt>
                <c:pt idx="4">
                  <c:v>Elis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</c:v>
                </c:pt>
                <c:pt idx="1">
                  <c:v>3.0</c:v>
                </c:pt>
                <c:pt idx="2">
                  <c:v>2.4</c:v>
                </c:pt>
                <c:pt idx="3">
                  <c:v>3.0</c:v>
                </c:pt>
                <c:pt idx="4">
                  <c:v>3.0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2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 equipe e o tema: um QR Code colado no equipamento abre, no celular, tudo o que o mecânico precisa para lubrificar com o óleo certo, no ponto certo, e registrar o que fez.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Contexto regional. Fonte: introdução do documento do PI (referência 5). Ligar com as fábricas de celulose da região, inclusive o Projeto Sucuriú da Arauco.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de pesquisa: de que forma um QR Code fixado no equipamento pode reduzir o tempo gasto pelo mecânico para identificar e registrar a lubrificação de um redutor de velocidade?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Pesquisa aplicada, quantitativa, em ambiente didático, comparando dois métodos de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Placa: série 818100, fabricado em 2018. A linha Magma M tamanho 06 foi deduzida pelo código e pelo manual, sem confirmação do fabricante. Aplicação hipotética: acionamento de uma pequena esteira transportadora.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nível é conferido retirando o bujão, com o equipamento parado e bloqueado. Na posição vertical adotada, o bujão de cima não é usado.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Dados do manual WEG-Cestari da linha coroa e rosca. Óleos recomendados para VG 460: ExxonMobil SHC 634, Shell Omala S4 GX 460, Klübersynth EG4-460.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Telas: segurança e vida útil do óleo; pontos no modelo 3D com fotos reais; registro em poucos toques. Os registros ficam no aparelho e podem ser exportados em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Troca simulada em 14/10/2026: próxima troca prevista para 30/06/2028. Tag do óleo RED-001-OLE-04, galão laranja (código e cor fictícios, de exemplo). A integração com o SAP é só uma proposta mostrada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Tocando no número ou na peça, a ficha mostra nome, material, função, o que inspecionar e falhas comuns, além do tag (ex.: RED-001-COR-01). Peças internas são ilustrativas e devem ser confirmadas numa desmontagem.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Mesma ordem de serviço para todos; cronômetro do celular. A aplicação do óleo em si não foi cronometrada, porque é igual nos dois métodos. ATENÇÃO: o documento prevê ordem contrabalanceada, mas os participantes 2 a 5 fizeram primeiro o tradicional; quem faz o tradicional primeiro já conhece o equipamento no segundo, o que pode aumentar a vantagem do QR Code. Citar isso como limitação.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Médias dos 5 participantes: tradicional 10:37 min, QR Code 2:58 min. Todos foram mais rápidos com o QR Code. Medido o tempo total (sem separar as etapas A, B e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Hora do mecânico: R$ 3.150/mês (CBO 9113-05, Novo Caged via Portal Salário) ÷ 220 h = R$ 14,32, sem encargos: estimativa conservadora. Se a busca de informação acontece com a máquina parada, o ganho real inclui o custo da hora de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Ensaio feito no laboratório do SENAI com o auxílio do prof. João Vitor de Moura Barbosa. Óleo novo: Ipiranga Ipitur HLP ISO 68 (70,9 cSt a 40 °C na ficha; medido ≈ 66 cSt, dentro da faixa do VG 68). As medições foram levadas à mesma temperatura pela curva do próprio óleo (equação de Walther, ASTM D341). Critério usual: até 10 % normal, 10 a 20 % atenção, acima de 20 % crítico. Suspeitas: fluido de corte, água (depósito alaranjado) ou reposição com óleo mais fino.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ao vivo no celular. Antes da banca, abrir a ficha uma vez com dados móveis: o Wi-Fi de visitantes do SENAI bloqueia o site, mas depois do primeiro acesso a ficha funciona sem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Valores do Código de Conduta do Projeto Sucuriú (Arauco): Segurança, Compromisso, Excelência e inovação, Trabalho em equipe e Bom cidadão. Mostrar como cada um aparece na 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Limitações: cronometragem em ambiente didático; ordem não contrabalanceada nos participantes 2 a 5; linha Magma M 06 deduzida sem confirmação do fabricante; registros só no aparelho por enquanto.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para perguntas e, se possível, ler a etiqueta colada no redutor com 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D6845F1-8151-4A8D-81DA-9DA0D09354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67556A5-6E38-474F-8A1D-B906CD4AB9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5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84AA11-06AB-4CC1-B8F8-54C0D70AD6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2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6D4447-73FA-4DBD-B495-19F93E2ABB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03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343C9E6-38DF-491F-A880-3C2FC463F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7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118F287-6673-4863-B03D-F72E5E8B2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6DDD1B4-761B-4EFB-AF59-1AE2E47111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927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29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2.jp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3.jp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chart" Target="../charts/char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2.jp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FAF707-5735-4A96-A3DB-42DA16D0319F}"/>
              </a:ext>
            </a:extLst>
          </p:cNvPr>
          <p:cNvSpPr txBox="1"/>
          <p:nvPr/>
        </p:nvSpPr>
        <p:spPr>
          <a:xfrm>
            <a:off x="804672" y="2148840"/>
            <a:ext cx="60350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Impact" panose="020B0806030902050204" pitchFamily="34" charset="0"/>
              </a:rPr>
              <a:t>QR CODE NA LUBRIFICAÇÃO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5D2848-79A1-4895-9DAC-1E7134041E8E}"/>
              </a:ext>
            </a:extLst>
          </p:cNvPr>
          <p:cNvSpPr txBox="1"/>
          <p:nvPr/>
        </p:nvSpPr>
        <p:spPr>
          <a:xfrm>
            <a:off x="896112" y="3794760"/>
            <a:ext cx="585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digital de identificação e gestão de lubrificantes em um redutor de velocidade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E5D8A-BAB8-4FD8-8736-2B99E006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283" y="208372"/>
            <a:ext cx="2188997" cy="60493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ACDEC55-59BE-4178-91D0-9819F7A27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048" y="1051245"/>
            <a:ext cx="2401466" cy="348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4709160"/>
            <a:ext cx="5760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Karine Dionisio Corrêa · Leonardo Trajano · Wesley Venerando da Silva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Técnico em Mecânica · Orientador(a): [nome do orientador] · 2026</a:t>
            </a:r>
          </a:p>
        </p:txBody>
      </p:sp>
    </p:spTree>
    <p:extLst>
      <p:ext uri="{BB962C8B-B14F-4D97-AF65-F5344CB8AC3E}">
        <p14:creationId xmlns:p14="http://schemas.microsoft.com/office/powerpoint/2010/main" val="116714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Três Lagoas: a Capital Nacional da Celulose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74519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05740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0" i="0">
                <a:solidFill>
                  <a:srgbClr val="E74F11"/>
                </a:solidFill>
                <a:latin typeface="Impact"/>
              </a:rPr>
              <a:t>2009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83464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A37"/>
                </a:solidFill>
                <a:latin typeface="Arial"/>
              </a:rPr>
              <a:t>Fibria (atual Suzano)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1,3 milhão t/ano de celulose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874519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205740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0" i="0">
                <a:solidFill>
                  <a:srgbClr val="E74F11"/>
                </a:solidFill>
                <a:latin typeface="Impact"/>
              </a:rPr>
              <a:t>2012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83464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A37"/>
                </a:solidFill>
                <a:latin typeface="Arial"/>
              </a:rPr>
              <a:t>Eldorado Brasil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1,7 milhão t/ano de celulose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874519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05740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0" i="0">
                <a:solidFill>
                  <a:srgbClr val="E74F11"/>
                </a:solidFill>
                <a:latin typeface="Impact"/>
              </a:rPr>
              <a:t>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83464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A37"/>
                </a:solidFill>
                <a:latin typeface="Arial"/>
              </a:rPr>
              <a:t>Lei nº 14.142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título de Capital Nacional da Celulose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9418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Arial"/>
              </a:rPr>
              <a:t>As máquinas principais já nasceram com lubrificação automática. </a:t>
            </a:r>
            <a:r>
              <a:rPr sz="1800" b="0" i="0">
                <a:solidFill>
                  <a:srgbClr val="1F2A37"/>
                </a:solidFill>
                <a:latin typeface="Arial"/>
              </a:rPr>
              <a:t>Mas redutores, bombas e transportadores continuam sendo lubrificados pelo mecânico, e é aí que este projeto atua.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O problema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Na hora de lubrificar, a informação não está junto do equipamento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3154680" cy="27432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" y="2468880"/>
            <a:ext cx="640080" cy="640080"/>
          </a:xfrm>
          <a:prstGeom prst="ellipse">
            <a:avLst/>
          </a:prstGeom>
          <a:solidFill>
            <a:srgbClr val="E74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2918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362AD"/>
                </a:solidFill>
                <a:latin typeface="Impact"/>
              </a:rPr>
              <a:t>Tempo perdido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947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O mecânico procura manual, ficha ou supervisor para saber óleo, volume e pontos.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2240280"/>
            <a:ext cx="3154680" cy="27432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51959" y="2468880"/>
            <a:ext cx="640080" cy="640080"/>
          </a:xfrm>
          <a:prstGeom prst="ellipse">
            <a:avLst/>
          </a:prstGeom>
          <a:solidFill>
            <a:srgbClr val="E74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2918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362AD"/>
                </a:solidFill>
                <a:latin typeface="Impact"/>
              </a:rPr>
              <a:t>Risco de erro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37947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Óleo errado ou misturado: o sintético PAO não pode levar mineral nem poliglicol.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240280"/>
            <a:ext cx="3154680" cy="27432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0" y="2468880"/>
            <a:ext cx="640080" cy="640080"/>
          </a:xfrm>
          <a:prstGeom prst="ellipse">
            <a:avLst/>
          </a:prstGeom>
          <a:solidFill>
            <a:srgbClr val="E74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2918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362AD"/>
                </a:solidFill>
                <a:latin typeface="Impact"/>
              </a:rPr>
              <a:t>Registro falho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9476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Anotado em papel e depois, o registro se perde e o PCM fica sem histórico.</a:t>
            </a:r>
          </a:p>
        </p:txBody>
      </p:sp>
    </p:spTree>
    <p:extLst>
      <p:ext uri="{BB962C8B-B14F-4D97-AF65-F5344CB8AC3E}">
        <p14:creationId xmlns:p14="http://schemas.microsoft.com/office/powerpoint/2010/main" val="103446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F2A37"/>
                </a:solidFill>
                <a:latin typeface="Arial"/>
              </a:rPr>
              <a:t>Desenvolver e avaliar um sistema com QR Code que leve ao mecânico, no próprio equipamento, as informações de lubrificação, reduzindo o tempo de identificação e de registro.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246120"/>
            <a:ext cx="594360" cy="594360"/>
          </a:xfrm>
          <a:prstGeom prst="ellipse">
            <a:avLst/>
          </a:prstGeom>
          <a:solidFill>
            <a:srgbClr val="136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74F11"/>
                </a:solidFill>
                <a:latin typeface="Impact"/>
              </a:rPr>
              <a:t>Levantar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dados do redutor na placa, no manual e no equipamento</a:t>
            </a:r>
          </a:p>
        </p:txBody>
      </p:sp>
      <p:sp>
        <p:nvSpPr>
          <p:cNvPr id="17" name="Oval 16"/>
          <p:cNvSpPr/>
          <p:nvPr/>
        </p:nvSpPr>
        <p:spPr>
          <a:xfrm>
            <a:off x="3108960" y="3246120"/>
            <a:ext cx="594360" cy="594360"/>
          </a:xfrm>
          <a:prstGeom prst="ellipse">
            <a:avLst/>
          </a:prstGeom>
          <a:solidFill>
            <a:srgbClr val="136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977639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74F11"/>
                </a:solidFill>
                <a:latin typeface="Impact"/>
              </a:rPr>
              <a:t>Desenvolver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43484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a ficha digital e a etiqueta QR resistente</a:t>
            </a:r>
          </a:p>
        </p:txBody>
      </p:sp>
      <p:sp>
        <p:nvSpPr>
          <p:cNvPr id="20" name="Oval 19"/>
          <p:cNvSpPr/>
          <p:nvPr/>
        </p:nvSpPr>
        <p:spPr>
          <a:xfrm>
            <a:off x="5669279" y="3246120"/>
            <a:ext cx="594360" cy="594360"/>
          </a:xfrm>
          <a:prstGeom prst="ellipse">
            <a:avLst/>
          </a:prstGeom>
          <a:solidFill>
            <a:srgbClr val="136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3977639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74F11"/>
                </a:solidFill>
                <a:latin typeface="Impact"/>
              </a:rPr>
              <a:t>Medir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443484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o tempo nos dois métodos: tradicional × QR Code</a:t>
            </a:r>
          </a:p>
        </p:txBody>
      </p:sp>
      <p:sp>
        <p:nvSpPr>
          <p:cNvPr id="23" name="Oval 22"/>
          <p:cNvSpPr/>
          <p:nvPr/>
        </p:nvSpPr>
        <p:spPr>
          <a:xfrm>
            <a:off x="8229599" y="3246120"/>
            <a:ext cx="594360" cy="594360"/>
          </a:xfrm>
          <a:prstGeom prst="ellipse">
            <a:avLst/>
          </a:prstGeom>
          <a:solidFill>
            <a:srgbClr val="136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3977639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74F11"/>
                </a:solidFill>
                <a:latin typeface="Impact"/>
              </a:rPr>
              <a:t>Calcular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4434840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a redução de tempo e o retorno financeiro</a:t>
            </a:r>
          </a:p>
        </p:txBody>
      </p:sp>
    </p:spTree>
    <p:extLst>
      <p:ext uri="{BB962C8B-B14F-4D97-AF65-F5344CB8AC3E}">
        <p14:creationId xmlns:p14="http://schemas.microsoft.com/office/powerpoint/2010/main" val="259011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O equipamento estudado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Redutor coroa e rosca sem fim WEG-Cestari da oficina do SENAI Três Lagoas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103120"/>
          <a:ext cx="6309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1362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Dado</a:t>
                      </a:r>
                    </a:p>
                  </a:txBody>
                  <a:tcPr marL="91440" marR="91440" marT="45720" marB="45720">
                    <a:solidFill>
                      <a:srgbClr val="1362A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Linha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Magma M, tamanho 06 (código M0612802V0D001)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Redução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1:25 · 1.750 → 70 rpm · 1,75 kW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Engrenamento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Rosca sem fim de aço, coroa de bronze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Carcaça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Ferro fundido · 18,1 kg (sem óleo)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Lubrificação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Imersão em óleo sintético PAO ISO VG 460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A37"/>
                          </a:solidFill>
                          <a:latin typeface="Arial"/>
                        </a:rPr>
                        <a:t>Vertical, placa de identificação para cima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5" name="Foto medição" descr="image3.jpeg"/>
          <p:cNvPicPr>
            <a:picLocks noChangeAspect="1"/>
          </p:cNvPicPr>
          <p:nvPr/>
        </p:nvPicPr>
        <p:blipFill>
          <a:blip r:embed="rId6"/>
          <a:srcRect t="3711" b="3711"/>
          <a:stretch>
            <a:fillRect/>
          </a:stretch>
        </p:blipFill>
        <p:spPr>
          <a:xfrm>
            <a:off x="7315200" y="2103120"/>
            <a:ext cx="2926080" cy="3611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0" y="57607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5606E"/>
                </a:solidFill>
                <a:latin typeface="Arial"/>
              </a:rPr>
              <a:t>Medição da carcaça com paquímetro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Pontos de lubrificação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Identificados e fotografados no próprio redutor</a:t>
            </a:r>
          </a:p>
        </p:txBody>
      </p:sp>
      <p:pic>
        <p:nvPicPr>
          <p:cNvPr id="14" name="Foto pontos" descr="red-nivel-dreno.jpg"/>
          <p:cNvPicPr>
            <a:picLocks noChangeAspect="1"/>
          </p:cNvPicPr>
          <p:nvPr/>
        </p:nvPicPr>
        <p:blipFill>
          <a:blip r:embed="rId6"/>
          <a:srcRect t="1606" b="1606"/>
          <a:stretch>
            <a:fillRect/>
          </a:stretch>
        </p:blipFill>
        <p:spPr>
          <a:xfrm>
            <a:off x="548640" y="2057400"/>
            <a:ext cx="2834640" cy="3749039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840480" y="2148840"/>
            <a:ext cx="548640" cy="548640"/>
          </a:xfrm>
          <a:prstGeom prst="ellipse">
            <a:avLst/>
          </a:prstGeom>
          <a:solidFill>
            <a:srgbClr val="136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E74F11"/>
                </a:solidFill>
                <a:latin typeface="Impact"/>
              </a:rPr>
              <a:t>Enchimento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Pelo respiro de latão, na face de cima</a:t>
            </a:r>
          </a:p>
        </p:txBody>
      </p:sp>
      <p:sp>
        <p:nvSpPr>
          <p:cNvPr id="18" name="Oval 17"/>
          <p:cNvSpPr/>
          <p:nvPr/>
        </p:nvSpPr>
        <p:spPr>
          <a:xfrm>
            <a:off x="3840480" y="3337560"/>
            <a:ext cx="548640" cy="548640"/>
          </a:xfrm>
          <a:prstGeom prst="ellipse">
            <a:avLst/>
          </a:prstGeom>
          <a:solidFill>
            <a:srgbClr val="136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9184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E74F11"/>
                </a:solidFill>
                <a:latin typeface="Impact"/>
              </a:rPr>
              <a:t>Nível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Bujão do meio da face da tampa cega; não há visor</a:t>
            </a:r>
          </a:p>
        </p:txBody>
      </p:sp>
      <p:sp>
        <p:nvSpPr>
          <p:cNvPr id="21" name="Oval 20"/>
          <p:cNvSpPr/>
          <p:nvPr/>
        </p:nvSpPr>
        <p:spPr>
          <a:xfrm>
            <a:off x="3840480" y="4526280"/>
            <a:ext cx="548640" cy="548640"/>
          </a:xfrm>
          <a:prstGeom prst="ellipse">
            <a:avLst/>
          </a:prstGeom>
          <a:solidFill>
            <a:srgbClr val="136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8056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E74F11"/>
                </a:solidFill>
                <a:latin typeface="Impact"/>
              </a:rPr>
              <a:t>Dreno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377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Bujão mais baixo dessa face e bujão da base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O que o mecânico precisa saber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 i="0">
                <a:solidFill>
                  <a:srgbClr val="E74F11"/>
                </a:solidFill>
                <a:latin typeface="Impact"/>
              </a:rPr>
              <a:t>VG 460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Óleo sintético PAO (CLP HC), conforme a placa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920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 i="0">
                <a:solidFill>
                  <a:srgbClr val="E74F11"/>
                </a:solidFill>
                <a:latin typeface="Impact"/>
              </a:rPr>
              <a:t>0,87 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0175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Volume para todas as posições de trabalho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920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 i="0">
                <a:solidFill>
                  <a:srgbClr val="E74F11"/>
                </a:solidFill>
                <a:latin typeface="Impact"/>
              </a:rPr>
              <a:t>15.000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0175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Troca com o óleo a 80 °C (10.000 h a 85 °C; 7.500 h a 90 °C)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51960"/>
            <a:ext cx="9601200" cy="10058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74F11"/>
                </a:solidFill>
                <a:latin typeface="Arial"/>
              </a:rPr>
              <a:t>Atenção: </a:t>
            </a:r>
            <a:r>
              <a:rPr sz="1600" b="0" i="0">
                <a:solidFill>
                  <a:srgbClr val="1F2A37"/>
                </a:solidFill>
                <a:latin typeface="Arial"/>
              </a:rPr>
              <a:t>não misturar com óleo mineral nem com sintético PG. Carcaça acima de 75 °C indica óleo acima do limite de 90 °C.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A solução: uma etiqueta, uma ficha no celular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83080"/>
            <a:ext cx="3840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Página web: não precisa instalar aplicativo.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Depois do primeiro acesso funciona sem internet.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Etiqueta plastificada colada em cima do redutor.</a:t>
            </a:r>
          </a:p>
        </p:txBody>
      </p:sp>
      <p:pic>
        <p:nvPicPr>
          <p:cNvPr id="14" name="QR RED-001" descr="qr-lubrificacao-RED-0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49039"/>
            <a:ext cx="1554480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0" y="3977639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5606E"/>
                </a:solidFill>
                <a:latin typeface="Arial"/>
              </a:rPr>
              <a:t>ficha-lubrificacao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5606E"/>
                </a:solidFill>
                <a:latin typeface="Arial"/>
              </a:rPr>
              <a:t>.vercel.app/l/RED-001</a:t>
            </a:r>
          </a:p>
        </p:txBody>
      </p:sp>
      <p:pic>
        <p:nvPicPr>
          <p:cNvPr id="16" name="Tela 1" descr="imag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783080"/>
            <a:ext cx="1668997" cy="3611880"/>
          </a:xfrm>
          <a:prstGeom prst="rect">
            <a:avLst/>
          </a:prstGeom>
        </p:spPr>
      </p:pic>
      <p:pic>
        <p:nvPicPr>
          <p:cNvPr id="17" name="Tela 2" descr="image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783080"/>
            <a:ext cx="1668997" cy="3611880"/>
          </a:xfrm>
          <a:prstGeom prst="rect">
            <a:avLst/>
          </a:prstGeom>
        </p:spPr>
      </p:pic>
      <p:pic>
        <p:nvPicPr>
          <p:cNvPr id="18" name="Tela 3" descr="image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1783080"/>
            <a:ext cx="1668997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O que a ficha faz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Pensada para o mecânico: nada para calcular ou adivinhar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3063240" cy="15544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E74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9572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2AD"/>
                </a:solidFill>
                <a:latin typeface="Arial"/>
              </a:rPr>
              <a:t>Segurança primeiro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7180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Arial"/>
              </a:rPr>
              <a:t>LOTO, EPIs e alerta de mistura de óleos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2148840"/>
            <a:ext cx="3063240" cy="15544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69080" y="2377440"/>
            <a:ext cx="457200" cy="457200"/>
          </a:xfrm>
          <a:prstGeom prst="ellipse">
            <a:avLst/>
          </a:prstGeom>
          <a:solidFill>
            <a:srgbClr val="E74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39572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2AD"/>
                </a:solidFill>
                <a:latin typeface="Arial"/>
              </a:rPr>
              <a:t>Vida útil do óleo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97180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Arial"/>
              </a:rPr>
              <a:t>Semáforo e data da próxima troca, sem digitar nada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2148840"/>
            <a:ext cx="3063240" cy="15544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60920" y="2377440"/>
            <a:ext cx="457200" cy="457200"/>
          </a:xfrm>
          <a:prstGeom prst="ellipse">
            <a:avLst/>
          </a:prstGeom>
          <a:solidFill>
            <a:srgbClr val="E74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39572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2AD"/>
                </a:solidFill>
                <a:latin typeface="Arial"/>
              </a:rPr>
              <a:t>Galão conferido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97180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Arial"/>
              </a:rPr>
              <a:t>QR do galão: com o óleo errado, o registro não salva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31920"/>
            <a:ext cx="3063240" cy="15544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E74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1788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2AD"/>
                </a:solidFill>
                <a:latin typeface="Arial"/>
              </a:rPr>
              <a:t>Troca passo a passo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5488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Arial"/>
              </a:rPr>
              <a:t>Uma etapa por tela, com fotos do próprio redutor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3931920"/>
            <a:ext cx="3063240" cy="15544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069080" y="4160520"/>
            <a:ext cx="457200" cy="457200"/>
          </a:xfrm>
          <a:prstGeom prst="ellipse">
            <a:avLst/>
          </a:prstGeom>
          <a:solidFill>
            <a:srgbClr val="E74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1788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2AD"/>
                </a:solidFill>
                <a:latin typeface="Arial"/>
              </a:rPr>
              <a:t>Registro rápido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475488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Arial"/>
              </a:rPr>
              <a:t>Inspeção, complemento ou troca em poucos toques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3931920"/>
            <a:ext cx="3063240" cy="15544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60920" y="4160520"/>
            <a:ext cx="457200" cy="457200"/>
          </a:xfrm>
          <a:prstGeom prst="ellipse">
            <a:avLst/>
          </a:prstGeom>
          <a:solidFill>
            <a:srgbClr val="E74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1788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62AD"/>
                </a:solidFill>
                <a:latin typeface="Arial"/>
              </a:rPr>
              <a:t>Proposta SAP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754880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A37"/>
                </a:solidFill>
                <a:latin typeface="Arial"/>
              </a:rPr>
              <a:t>Reserva de material e nota de manutenção simuladas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Modelo 3D do redutor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Vista explodida e em corte, com a ficha e o tag de cada peça</a:t>
            </a:r>
          </a:p>
        </p:txBody>
      </p:sp>
      <p:pic>
        <p:nvPicPr>
          <p:cNvPr id="14" name="Vista explodida" descr="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103120"/>
            <a:ext cx="4616138" cy="3611880"/>
          </a:xfrm>
          <a:prstGeom prst="rect">
            <a:avLst/>
          </a:prstGeom>
        </p:spPr>
      </p:pic>
      <p:pic>
        <p:nvPicPr>
          <p:cNvPr id="15" name="Vista em corte" descr="imag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103120"/>
            <a:ext cx="3592524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Cronometragem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Cinco participantes, os dois métodos, junto ao redutor da oficina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148840"/>
          <a:ext cx="9509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383280"/>
                <a:gridCol w="33832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Etapa</a:t>
                      </a:r>
                    </a:p>
                  </a:txBody>
                  <a:tcPr marL="91440" marR="91440" marT="45720" marB="45720">
                    <a:solidFill>
                      <a:srgbClr val="1362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Método tradicional</a:t>
                      </a:r>
                    </a:p>
                  </a:txBody>
                  <a:tcPr marL="91440" marR="91440" marT="45720" marB="45720">
                    <a:solidFill>
                      <a:srgbClr val="1362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Método com QR Code</a:t>
                      </a:r>
                    </a:p>
                  </a:txBody>
                  <a:tcPr marL="91440" marR="91440" marT="45720" marB="45720">
                    <a:solidFill>
                      <a:srgbClr val="1362A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Arial"/>
                        </a:rPr>
                        <a:t>A. Lubrificante certo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Arial"/>
                        </a:rPr>
                        <a:t>Placa e manual em PDF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Arial"/>
                        </a:rPr>
                        <a:t>Escanear e ler a ficha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Arial"/>
                        </a:rPr>
                        <a:t>B. Volume e pontos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Arial"/>
                        </a:rPr>
                        <a:t>Procurar no manual e no redutor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Arial"/>
                        </a:rPr>
                        <a:t>Já aparece na tela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Arial"/>
                        </a:rPr>
                        <a:t>C. Registro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Arial"/>
                        </a:rPr>
                        <a:t>Formulário de papel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F2A37"/>
                          </a:solidFill>
                          <a:latin typeface="Arial"/>
                        </a:rPr>
                        <a:t>Poucos toques no celular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4434840"/>
            <a:ext cx="9509760" cy="10972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9052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A37"/>
                </a:solidFill>
                <a:latin typeface="Arial"/>
              </a:rPr>
              <a:t>Participantes: </a:t>
            </a:r>
            <a:r>
              <a:rPr sz="1500" b="0" i="0">
                <a:solidFill>
                  <a:srgbClr val="1F2A37"/>
                </a:solidFill>
                <a:latin typeface="Arial"/>
              </a:rPr>
              <a:t>Felipe Araujo, Bruno Henrique de Souza, Maria Eduarda de Jesus, Simone Martins e Elis Dantas, na oficina de mecânica do SENAI Três Lagoas.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Resultados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Tempo total por participante, em minutos</a:t>
            </a:r>
          </a:p>
        </p:txBody>
      </p:sp>
      <p:graphicFrame>
        <p:nvGraphicFramePr>
          <p:cNvPr id="14" name="Gráfico de tempos"/>
          <p:cNvGraphicFramePr>
            <a:graphicFrameLocks noGrp="1"/>
          </p:cNvGraphicFramePr>
          <p:nvPr/>
        </p:nvGraphicFramePr>
        <p:xfrm>
          <a:off x="548640" y="2011680"/>
          <a:ext cx="6309360" cy="38404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0" y="205740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0" i="0">
                <a:solidFill>
                  <a:srgbClr val="E74F11"/>
                </a:solidFill>
                <a:latin typeface="Impact"/>
              </a:rPr>
              <a:t>−72 %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2004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de tempo com o QR Code (média)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88620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A37"/>
                </a:solidFill>
                <a:latin typeface="Arial"/>
              </a:rPr>
              <a:t>Tradicional: </a:t>
            </a:r>
            <a:r>
              <a:rPr sz="1800" b="0" i="0">
                <a:solidFill>
                  <a:srgbClr val="1F2A37"/>
                </a:solidFill>
                <a:latin typeface="Arial"/>
              </a:rPr>
              <a:t>10:37 min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2A37"/>
                </a:solidFill>
                <a:latin typeface="Arial"/>
              </a:rPr>
              <a:t>QR Code: </a:t>
            </a:r>
            <a:r>
              <a:rPr sz="1800" b="0" i="0">
                <a:solidFill>
                  <a:srgbClr val="1F2A37"/>
                </a:solidFill>
                <a:latin typeface="Arial"/>
              </a:rPr>
              <a:t>2:58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8006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5606E"/>
                </a:solidFill>
                <a:latin typeface="Arial"/>
              </a:rPr>
              <a:t>Média dos 5 participantes · oficina do SENAI Três Lagoas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Retorno financeiro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Ganho só no tempo do mecânico (aplicação hipotética, sem linha parada)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315468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3317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0" i="0">
                <a:solidFill>
                  <a:srgbClr val="E74F11"/>
                </a:solidFill>
                <a:latin typeface="Impact"/>
              </a:rPr>
              <a:t>7:39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2004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poupados em cada intervenção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2148840"/>
            <a:ext cx="315468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23317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0" i="0">
                <a:solidFill>
                  <a:srgbClr val="E74F11"/>
                </a:solidFill>
                <a:latin typeface="Impact"/>
              </a:rPr>
              <a:t>1,5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2004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por ano, com 12 inspeções mensais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148840"/>
            <a:ext cx="315468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33172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0" i="0">
                <a:solidFill>
                  <a:srgbClr val="E74F11"/>
                </a:solidFill>
                <a:latin typeface="Impact"/>
              </a:rPr>
              <a:t>R$ 22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2004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Arial"/>
              </a:rPr>
              <a:t>por ano e por equipamento (R$ 14,32/h do mecânico)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A37"/>
                </a:solidFill>
                <a:latin typeface="Arial"/>
              </a:rPr>
              <a:t>O ganho cresce com o número de equipamentos: </a:t>
            </a:r>
            <a:r>
              <a:rPr sz="1700" b="0" i="0">
                <a:solidFill>
                  <a:srgbClr val="1F2A37"/>
                </a:solidFill>
                <a:latin typeface="Arial"/>
              </a:rPr>
              <a:t>com 100 equipamentos. cerca de R$ 2.191 por ano, contra o custo baixo de etiqueta e impressão.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Análise do óleo no laboratório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Ensaio de aprendizagem · viscosímetro Marte MVD-8 · prof. João Vitor de Moura Barbosa</a:t>
            </a:r>
          </a:p>
        </p:txBody>
      </p:sp>
      <p:pic>
        <p:nvPicPr>
          <p:cNvPr id="14" name="Foto dreno" descr="tor-dreno.jpg"/>
          <p:cNvPicPr>
            <a:picLocks noChangeAspect="1"/>
          </p:cNvPicPr>
          <p:nvPr/>
        </p:nvPicPr>
        <p:blipFill>
          <a:blip r:embed="rId6"/>
          <a:srcRect l="4630" r="4630"/>
          <a:stretch>
            <a:fillRect/>
          </a:stretch>
        </p:blipFill>
        <p:spPr>
          <a:xfrm>
            <a:off x="548640" y="2103120"/>
            <a:ext cx="2240280" cy="3291840"/>
          </a:xfrm>
          <a:prstGeom prst="rect">
            <a:avLst/>
          </a:prstGeom>
        </p:spPr>
      </p:pic>
      <p:pic>
        <p:nvPicPr>
          <p:cNvPr id="15" name="Foto ensaio" descr="tor-ensaio-usado.jpg"/>
          <p:cNvPicPr>
            <a:picLocks noChangeAspect="1"/>
          </p:cNvPicPr>
          <p:nvPr/>
        </p:nvPicPr>
        <p:blipFill>
          <a:blip r:embed="rId7"/>
          <a:srcRect t="8694" b="8694"/>
          <a:stretch>
            <a:fillRect/>
          </a:stretch>
        </p:blipFill>
        <p:spPr>
          <a:xfrm>
            <a:off x="2926080" y="2103120"/>
            <a:ext cx="2240280" cy="3291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4406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5606E"/>
                </a:solidFill>
                <a:latin typeface="Arial"/>
              </a:rPr>
              <a:t>Dreno do óleo usado (26/10) e ensaio no viscosímetro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40680" y="210312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73736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362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Óleo novo</a:t>
                      </a:r>
                    </a:p>
                  </a:txBody>
                  <a:tcPr marL="91440" marR="91440" marT="45720" marB="45720">
                    <a:solidFill>
                      <a:srgbClr val="1362A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Óleo usado</a:t>
                      </a:r>
                    </a:p>
                  </a:txBody>
                  <a:tcPr marL="91440" marR="91440" marT="45720" marB="45720">
                    <a:solidFill>
                      <a:srgbClr val="1362A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Arial"/>
                        </a:rPr>
                        <a:t>Medido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Arial"/>
                        </a:rPr>
                        <a:t>145,6 mPa·s (22,7 °C)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Arial"/>
                        </a:rPr>
                        <a:t>91,0 mPa·s (27,3 °C)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Arial"/>
                        </a:rPr>
                        <a:t>Na mesma temperatura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Arial"/>
                        </a:rPr>
                        <a:t>≈ 110 mPa·s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Arial"/>
                        </a:rPr>
                        <a:t>91,0 mPa·s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Arial"/>
                        </a:rPr>
                        <a:t>Estimado a 40 °C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Arial"/>
                        </a:rPr>
                        <a:t>≈ 66 cSt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A37"/>
                          </a:solidFill>
                          <a:latin typeface="Arial"/>
                        </a:rPr>
                        <a:t>≈ 56 cSt</a:t>
                      </a:r>
                    </a:p>
                  </a:txBody>
                  <a:tcPr marL="91440" marR="91440" marT="45720" marB="45720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40680" y="4343400"/>
            <a:ext cx="4572000" cy="1097280"/>
          </a:xfrm>
          <a:prstGeom prst="roundRect">
            <a:avLst>
              <a:gd name="adj" fmla="val 15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4416552"/>
            <a:ext cx="4206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2A37"/>
                </a:solidFill>
                <a:latin typeface="Arial"/>
              </a:rPr>
              <a:t>ATENÇÃO · viscosidade −17 %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F2A37"/>
                </a:solidFill>
                <a:latin typeface="Arial"/>
              </a:rPr>
              <a:t>Óleo afinou e mostra sinais de contaminação (verde, turvo, depósito).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A análise do óleo dentro do QR Code</a:t>
            </a:r>
          </a:p>
        </p:txBody>
      </p:sp>
      <p:pic>
        <p:nvPicPr>
          <p:cNvPr id="13" name="Tela TOR-001" descr="tela-tor-top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37360"/>
            <a:ext cx="1962615" cy="4023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3280" y="1783080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1362AD"/>
                </a:solidFill>
                <a:latin typeface="Arial"/>
              </a:rPr>
              <a:t>TOR-001 (torno): </a:t>
            </a:r>
            <a:r>
              <a:rPr sz="1600" b="0" i="0">
                <a:solidFill>
                  <a:srgbClr val="1F2A37"/>
                </a:solidFill>
                <a:latin typeface="Arial"/>
              </a:rPr>
              <a:t>o QR mostra a situação do óleo com semáforo, o que fazer, as fotos do ensaio e o histórico. Quem medir de novo digita a viscosidade e a temperatura, e a ficha calcula a variação sozinha.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1362AD"/>
                </a:solidFill>
                <a:latin typeface="Arial"/>
              </a:rPr>
              <a:t>RED-001 (redutor): </a:t>
            </a:r>
            <a:r>
              <a:rPr sz="1600" b="0" i="0">
                <a:solidFill>
                  <a:srgbClr val="1F2A37"/>
                </a:solidFill>
                <a:latin typeface="Arial"/>
              </a:rPr>
              <a:t>o mesmo cartão entra como proposta: o óleo VG 460 ainda não foi analisado. A amostra será coletada na troca, porque o redutor tem só 0,87 L.</a:t>
            </a:r>
          </a:p>
        </p:txBody>
      </p:sp>
      <p:pic>
        <p:nvPicPr>
          <p:cNvPr id="15" name="QR TOR-001" descr="qr-tor-0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4160520"/>
            <a:ext cx="1371600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37760" y="434340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5606E"/>
                </a:solidFill>
                <a:latin typeface="Arial"/>
              </a:rPr>
              <a:t>Leia e veja ao vivo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5606E"/>
                </a:solidFill>
                <a:latin typeface="Arial"/>
              </a:rPr>
              <a:t>ficha-lubrificacao.vercel.app/e/TOR-001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Alinhado aos valores da Arauco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Código de Conduta do Projeto Sucuriú × o que o projeto entrega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E87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17627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751A"/>
                </a:solidFill>
                <a:latin typeface="Impact"/>
              </a:rPr>
              <a:t>Segurança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1284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LOTO, EPIs e alertas aparecem antes de qualquer intervenção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2852927"/>
            <a:ext cx="548640" cy="548640"/>
          </a:xfrm>
          <a:prstGeom prst="ellipse">
            <a:avLst/>
          </a:prstGeom>
          <a:solidFill>
            <a:srgbClr val="C85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926079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8504A"/>
                </a:solidFill>
                <a:latin typeface="Impact"/>
              </a:rPr>
              <a:t>Compromisso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962656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Cada intervenção fica registrada, com data, responsável e foto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602735"/>
            <a:ext cx="548640" cy="548640"/>
          </a:xfrm>
          <a:prstGeom prst="ellipse">
            <a:avLst/>
          </a:prstGeom>
          <a:solidFill>
            <a:srgbClr val="2FA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675887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FA894"/>
                </a:solidFill>
                <a:latin typeface="Impact"/>
              </a:rPr>
              <a:t>Excelência e inovação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12463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QR Code, modelo 3D e análise do óleo no celular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352544"/>
            <a:ext cx="548640" cy="548640"/>
          </a:xfrm>
          <a:prstGeom prst="ellipse">
            <a:avLst/>
          </a:prstGeom>
          <a:solidFill>
            <a:srgbClr val="D9A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425696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D9A300"/>
                </a:solidFill>
                <a:latin typeface="Impact"/>
              </a:rPr>
              <a:t>Trabalho em equipe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462272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Três projetos integradores no mesmo site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102352"/>
            <a:ext cx="548640" cy="548640"/>
          </a:xfrm>
          <a:prstGeom prst="ellipse">
            <a:avLst/>
          </a:prstGeom>
          <a:solidFill>
            <a:srgbClr val="8FA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517550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8FA81E"/>
                </a:solidFill>
                <a:latin typeface="Impact"/>
              </a:rPr>
              <a:t>Bom cidadão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21208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Óleo usado recolhido e destinado ao rerrefino (CONAMA)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0FA697C-7E00-49F8-A7BD-585AD80AE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905" y="358458"/>
            <a:ext cx="1539515" cy="5085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BB27DE2-E1CE-4F01-BFAD-7120B64F4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1" y="6192978"/>
            <a:ext cx="2008140" cy="5549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7AB5718-E611-4C5E-BA5A-D5F5DFBF14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6" y="6253941"/>
            <a:ext cx="3131255" cy="453880"/>
          </a:xfrm>
          <a:prstGeom prst="rect">
            <a:avLst/>
          </a:prstGeom>
        </p:spPr>
      </p:pic>
      <p:sp>
        <p:nvSpPr>
          <p:cNvPr id="12" name="Título"/>
          <p:cNvSpPr txBox="1"/>
          <p:nvPr/>
        </p:nvSpPr>
        <p:spPr>
          <a:xfrm>
            <a:off x="548640" y="91440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 i="0">
                <a:solidFill>
                  <a:srgbClr val="1362AD"/>
                </a:solidFill>
                <a:latin typeface="Impact"/>
              </a:rPr>
              <a:t>Conclusão</a:t>
            </a:r>
          </a:p>
        </p:txBody>
      </p:sp>
      <p:sp>
        <p:nvSpPr>
          <p:cNvPr id="13" name="Subtítulo"/>
          <p:cNvSpPr txBox="1"/>
          <p:nvPr/>
        </p:nvSpPr>
        <p:spPr>
          <a:xfrm>
            <a:off x="566928" y="1572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606E"/>
                </a:solidFill>
                <a:latin typeface="Arial"/>
              </a:rPr>
              <a:t>Informação certa no ponto de uso: menos tempo e menos erro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4663440" cy="32918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317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1362AD"/>
                </a:solidFill>
                <a:latin typeface="Impact"/>
              </a:rPr>
              <a:t>Contribuições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2608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• Tempo cerca de 72 % menor com o QR Code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• Acesso padronizado aos dados de lubrificação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• Histórico confiável para o PCM e a TPM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• Análise do óleo com semáforo no próprio QR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148840"/>
            <a:ext cx="4663440" cy="32918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3317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E74F11"/>
                </a:solidFill>
                <a:latin typeface="Impact"/>
              </a:rPr>
              <a:t>Próximos passos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92608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• Testar em linha de produção real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• Analisar o óleo do redutor na próxima troca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• Sincronizar os registros entre aparelhos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F2A37"/>
                </a:solidFill>
                <a:latin typeface="Arial"/>
              </a:rPr>
              <a:t>• Integrar de fato ao SAP PM</a:t>
            </a:r>
          </a:p>
        </p:txBody>
      </p:sp>
    </p:spTree>
    <p:extLst>
      <p:ext uri="{BB962C8B-B14F-4D97-AF65-F5344CB8AC3E}">
        <p14:creationId xmlns:p14="http://schemas.microsoft.com/office/powerpoint/2010/main" val="230368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FAF707-5735-4A96-A3DB-42DA16D0319F}"/>
              </a:ext>
            </a:extLst>
          </p:cNvPr>
          <p:cNvSpPr txBox="1"/>
          <p:nvPr/>
        </p:nvSpPr>
        <p:spPr>
          <a:xfrm>
            <a:off x="804672" y="2148840"/>
            <a:ext cx="60350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Impact" panose="020B0806030902050204" pitchFamily="34" charset="0"/>
              </a:rPr>
              <a:t>OBRIGADO!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5D2848-79A1-4895-9DAC-1E7134041E8E}"/>
              </a:ext>
            </a:extLst>
          </p:cNvPr>
          <p:cNvSpPr txBox="1"/>
          <p:nvPr/>
        </p:nvSpPr>
        <p:spPr>
          <a:xfrm>
            <a:off x="896112" y="3794760"/>
            <a:ext cx="585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Perguntas?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7E5D8A-BAB8-4FD8-8736-2B99E006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283" y="208372"/>
            <a:ext cx="2188997" cy="60493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ACDEC55-59BE-4178-91D0-9819F7A27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048" y="1051245"/>
            <a:ext cx="2401466" cy="348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4709160"/>
            <a:ext cx="5760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Leia os QR Codes e veja as fichas ao vivo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512064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-lubrificacao-RED-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21208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660196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RED-001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512064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r-tor-0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672" y="5212080"/>
            <a:ext cx="1280160" cy="1280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99232" y="6601968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TOR-001</a:t>
            </a:r>
          </a:p>
        </p:txBody>
      </p:sp>
    </p:spTree>
    <p:extLst>
      <p:ext uri="{BB962C8B-B14F-4D97-AF65-F5344CB8AC3E}">
        <p14:creationId xmlns:p14="http://schemas.microsoft.com/office/powerpoint/2010/main" val="11671417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 de Albuquerque Servian</dc:creator>
  <cp:lastModifiedBy>Renan da Silva Fernandes</cp:lastModifiedBy>
  <cp:revision>7</cp:revision>
  <dcterms:created xsi:type="dcterms:W3CDTF">2026-01-26T19:49:21Z</dcterms:created>
  <dcterms:modified xsi:type="dcterms:W3CDTF">2026-05-18T19:23:44Z</dcterms:modified>
</cp:coreProperties>
</file>